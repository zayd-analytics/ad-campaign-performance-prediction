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6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71" r:id="rId11"/>
    <p:sldId id="272" r:id="rId12"/>
    <p:sldId id="268" r:id="rId13"/>
    <p:sldId id="273" r:id="rId14"/>
    <p:sldId id="274" r:id="rId15"/>
  </p:sldIdLst>
  <p:sldSz cx="9144000" cy="5143500" type="screen16x9"/>
  <p:notesSz cx="6858000" cy="9144000"/>
  <p:embeddedFontLst>
    <p:embeddedFont>
      <p:font typeface="Montserrat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86108E-4ED2-4F1C-9F15-88C010D8BD8F}">
  <a:tblStyle styleId="{AF86108E-4ED2-4F1C-9F15-88C010D8BD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1156525" y="1340400"/>
            <a:ext cx="42321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1156525" y="2096100"/>
            <a:ext cx="4232100" cy="20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chemeClr val="accen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7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>
            <a:spLocks noGrp="1"/>
          </p:cNvSpPr>
          <p:nvPr>
            <p:ph type="subTitle" idx="1"/>
          </p:nvPr>
        </p:nvSpPr>
        <p:spPr>
          <a:xfrm>
            <a:off x="1186650" y="3165131"/>
            <a:ext cx="7355184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>
                <a:solidFill>
                  <a:schemeClr val="tx1"/>
                </a:solidFill>
              </a:rPr>
              <a:t>Internship Project • First Quadrant Labs • Mohammed Zayd Quadri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53237-A763-412E-BCF3-BEEE452F0871}"/>
              </a:ext>
            </a:extLst>
          </p:cNvPr>
          <p:cNvSpPr/>
          <p:nvPr/>
        </p:nvSpPr>
        <p:spPr>
          <a:xfrm>
            <a:off x="-1002890" y="1299301"/>
            <a:ext cx="997590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Clr>
                <a:schemeClr val="dk1"/>
              </a:buClr>
              <a:buSzPts val="5200"/>
            </a:pPr>
            <a:r>
              <a:rPr lang="en-US" sz="4400" b="1" dirty="0">
                <a:solidFill>
                  <a:schemeClr val="accent1"/>
                </a:solidFill>
                <a:latin typeface="Montserrat"/>
                <a:sym typeface="Montserrat"/>
              </a:rPr>
              <a:t>Prediction of Product Ad Campaign Performance</a:t>
            </a:r>
            <a:endParaRPr lang="en-IN" sz="4400" b="1" dirty="0">
              <a:solidFill>
                <a:schemeClr val="accent1"/>
              </a:solidFill>
              <a:latin typeface="Montserrat"/>
              <a:sym typeface="Montserra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E1417-4FB2-4C56-9145-9E3B5B511410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62AB-938B-4F07-8FA9-9E7BD4CFB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6" y="748252"/>
            <a:ext cx="7615767" cy="755700"/>
          </a:xfrm>
        </p:spPr>
        <p:txBody>
          <a:bodyPr/>
          <a:lstStyle/>
          <a:p>
            <a:r>
              <a:rPr lang="en-IN" sz="4000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EFD6D-2D88-44F1-8362-22FBCF488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592" y="2054408"/>
            <a:ext cx="5876177" cy="1613540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Objective: Develop a predictive model to forecast KPI performance (orders &amp; sales) of future product ad campaigns, enabling data-driven marketing decisions and ROI improvement.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2637E2-9E64-4768-895A-0B159144686A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146171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AA52-7D5B-4AC5-AFD3-213238552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138" y="212993"/>
            <a:ext cx="4671847" cy="755700"/>
          </a:xfrm>
        </p:spPr>
        <p:txBody>
          <a:bodyPr/>
          <a:lstStyle/>
          <a:p>
            <a:r>
              <a:rPr lang="en-IN" sz="3600" dirty="0"/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CB7C0-0B42-4460-8D1F-8C695C27B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1852" y="1382419"/>
            <a:ext cx="4433953" cy="3070633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Records: 731 • Original Features: 11</a:t>
            </a:r>
          </a:p>
          <a:p>
            <a:r>
              <a:rPr lang="en-US" sz="1800" dirty="0">
                <a:solidFill>
                  <a:schemeClr val="tx1"/>
                </a:solidFill>
              </a:rPr>
              <a:t>Source: First Quadrant Labs (confidential)</a:t>
            </a:r>
          </a:p>
          <a:p>
            <a:r>
              <a:rPr lang="en-US" sz="1800" dirty="0">
                <a:solidFill>
                  <a:schemeClr val="tx1"/>
                </a:solidFill>
              </a:rPr>
              <a:t> Includes campaign budget, discount, email rates, product level, etc.</a:t>
            </a:r>
          </a:p>
          <a:p>
            <a:r>
              <a:rPr lang="en-US" sz="1800" dirty="0">
                <a:solidFill>
                  <a:schemeClr val="tx1"/>
                </a:solidFill>
              </a:rPr>
              <a:t> Only 2 missing values in price column – handled successfully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01501-D58B-4EB5-A6D6-06EB45DE4B40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323177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9E9A-36EF-4420-9A32-467E921A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115" y="279900"/>
            <a:ext cx="5786967" cy="755700"/>
          </a:xfrm>
        </p:spPr>
        <p:txBody>
          <a:bodyPr/>
          <a:lstStyle/>
          <a:p>
            <a:r>
              <a:rPr lang="en-IN" sz="3600" dirty="0"/>
              <a:t>Data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1D853-2818-4B45-88AB-FC124E5FA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8826" y="1624167"/>
            <a:ext cx="5155065" cy="2767500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Missing values filled (price) using median</a:t>
            </a:r>
          </a:p>
          <a:p>
            <a:r>
              <a:rPr lang="en-US" sz="1800" dirty="0">
                <a:solidFill>
                  <a:schemeClr val="tx1"/>
                </a:solidFill>
              </a:rPr>
              <a:t>Categorical variables encoded (campaign_type, campaign_level, product_level)</a:t>
            </a:r>
          </a:p>
          <a:p>
            <a:r>
              <a:rPr lang="en-US" sz="1800" dirty="0">
                <a:solidFill>
                  <a:schemeClr val="tx1"/>
                </a:solidFill>
              </a:rPr>
              <a:t>No missing values post-cleaning</a:t>
            </a:r>
          </a:p>
          <a:p>
            <a:r>
              <a:rPr lang="en-US" sz="1800" dirty="0">
                <a:solidFill>
                  <a:schemeClr val="tx1"/>
                </a:solidFill>
              </a:rPr>
              <a:t>Clean dataset ready for modelling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7E1083-14FF-46EE-9D6B-02DB86FDBA82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151800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F5C5-D549-4FE4-AD86-C92C7875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169" y="227861"/>
            <a:ext cx="5482168" cy="755700"/>
          </a:xfrm>
        </p:spPr>
        <p:txBody>
          <a:bodyPr/>
          <a:lstStyle/>
          <a:p>
            <a:r>
              <a:rPr lang="en-IN" sz="3600" dirty="0"/>
              <a:t>Feature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7FE13-9AD9-439B-B149-3D3971D50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265" y="1340399"/>
            <a:ext cx="5943085" cy="3575240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Created 6 new business-relevant features:</a:t>
            </a:r>
          </a:p>
          <a:p>
            <a:r>
              <a:rPr lang="en-US" sz="1800" dirty="0">
                <a:solidFill>
                  <a:schemeClr val="tx1"/>
                </a:solidFill>
              </a:rPr>
              <a:t>Effective Price = price × (1 − discount_rate).</a:t>
            </a:r>
          </a:p>
          <a:p>
            <a:r>
              <a:rPr lang="en-US" sz="1800" dirty="0">
                <a:solidFill>
                  <a:schemeClr val="tx1"/>
                </a:solidFill>
              </a:rPr>
              <a:t>ROI = orders ÷ campaign_fee.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Cost per Order = campaign_fee ÷ orders.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Budget per Hour = resource_amount ÷ hour_resources.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Discount Impact = discount_rate × email_rate.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Revenue Estimate = orders × effective_price.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These enhance model’s ability to capture efficiency and profitability.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61A6B-3D95-4CE2-9CF2-D38340C13760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380132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95B0-5AA9-4831-A2A2-05D9DEEE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775" y="279900"/>
            <a:ext cx="6731104" cy="755700"/>
          </a:xfrm>
        </p:spPr>
        <p:txBody>
          <a:bodyPr/>
          <a:lstStyle/>
          <a:p>
            <a:r>
              <a:rPr lang="en-IN" sz="3600" dirty="0"/>
              <a:t>Model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284BD-587E-463E-B8F9-B1FF28D86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322" y="1294866"/>
            <a:ext cx="5761463" cy="3828000"/>
          </a:xfrm>
        </p:spPr>
        <p:txBody>
          <a:bodyPr/>
          <a:lstStyle/>
          <a:p>
            <a:r>
              <a:rPr lang="en-IN" sz="1800" dirty="0">
                <a:solidFill>
                  <a:schemeClr val="tx1"/>
                </a:solidFill>
              </a:rPr>
              <a:t>Models evaluated: Linear Regression, Random Forest, Gradient Boosting, XGBoost (Base &amp; Tuned)</a:t>
            </a:r>
          </a:p>
          <a:p>
            <a:r>
              <a:rPr lang="en-IN" sz="1800" dirty="0">
                <a:solidFill>
                  <a:schemeClr val="tx1"/>
                </a:solidFill>
              </a:rPr>
              <a:t>| Model | R² | MAE | RMSE |</a:t>
            </a:r>
          </a:p>
          <a:p>
            <a:r>
              <a:rPr lang="en-IN" sz="1800" dirty="0">
                <a:solidFill>
                  <a:schemeClr val="tx1"/>
                </a:solidFill>
              </a:rPr>
              <a:t>| Linear Regression | 0.99919 | 27.75 | 55.26 |</a:t>
            </a:r>
          </a:p>
          <a:p>
            <a:r>
              <a:rPr lang="en-IN" sz="1800" dirty="0">
                <a:solidFill>
                  <a:schemeClr val="tx1"/>
                </a:solidFill>
              </a:rPr>
              <a:t>| Gradient Boosting | 0.99730 | 77.62 | 100.83</a:t>
            </a:r>
          </a:p>
          <a:p>
            <a:r>
              <a:rPr lang="en-IN" sz="1800" dirty="0">
                <a:solidFill>
                  <a:schemeClr val="tx1"/>
                </a:solidFill>
              </a:rPr>
              <a:t>| Random Forest | 0.99674 | 72.79 | 110.70 |</a:t>
            </a:r>
          </a:p>
          <a:p>
            <a:r>
              <a:rPr lang="en-IN" sz="1800" dirty="0">
                <a:solidFill>
                  <a:schemeClr val="tx1"/>
                </a:solidFill>
              </a:rPr>
              <a:t>| XGBoost (Base) | 0.99631 | 87.38 | 117.93 |</a:t>
            </a:r>
          </a:p>
          <a:p>
            <a:r>
              <a:rPr lang="en-IN" sz="1800" dirty="0">
                <a:solidFill>
                  <a:schemeClr val="tx1"/>
                </a:solidFill>
              </a:rPr>
              <a:t>| XGBoost (Tuned) | 0.99560 | 74.70 | 128.68|</a:t>
            </a:r>
          </a:p>
          <a:p>
            <a:r>
              <a:rPr lang="en-IN" sz="1800" dirty="0">
                <a:solidFill>
                  <a:schemeClr val="tx1"/>
                </a:solidFill>
              </a:rPr>
              <a:t>Conclusion: Linear Regression outperforms others and is selected as final model.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27211E-C997-46BB-8340-F7B8EE8C435A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71553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38DF-C49E-4FD4-8466-BB7AB082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757" y="175492"/>
            <a:ext cx="5407827" cy="755700"/>
          </a:xfrm>
        </p:spPr>
        <p:txBody>
          <a:bodyPr/>
          <a:lstStyle/>
          <a:p>
            <a:r>
              <a:rPr lang="en-IN" sz="3600" dirty="0"/>
              <a:t>Overfitting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5EFDC-AE2F-4FCB-A221-8473BD923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696" y="1390185"/>
            <a:ext cx="4991514" cy="2732583"/>
          </a:xfrm>
        </p:spPr>
        <p:txBody>
          <a:bodyPr/>
          <a:lstStyle/>
          <a:p>
            <a:r>
              <a:rPr lang="en-IN" sz="1800" dirty="0">
                <a:solidFill>
                  <a:schemeClr val="tx1"/>
                </a:solidFill>
              </a:rPr>
              <a:t>Training R²: 0.999674 • Testing R²: 0.999190</a:t>
            </a:r>
          </a:p>
          <a:p>
            <a:r>
              <a:rPr lang="en-IN" sz="1800" dirty="0">
                <a:solidFill>
                  <a:schemeClr val="tx1"/>
                </a:solidFill>
              </a:rPr>
              <a:t>Difference ~0.000484 → negligible.</a:t>
            </a:r>
          </a:p>
          <a:p>
            <a:r>
              <a:rPr lang="en-IN" sz="1800" dirty="0">
                <a:solidFill>
                  <a:schemeClr val="tx1"/>
                </a:solidFill>
              </a:rPr>
              <a:t>Model shows </a:t>
            </a:r>
            <a:r>
              <a:rPr lang="en-IN" sz="1800" b="1" dirty="0">
                <a:solidFill>
                  <a:schemeClr val="tx1"/>
                </a:solidFill>
              </a:rPr>
              <a:t>excellent generalisation</a:t>
            </a:r>
            <a:r>
              <a:rPr lang="en-IN" sz="1800" dirty="0">
                <a:solidFill>
                  <a:schemeClr val="tx1"/>
                </a:solidFill>
              </a:rPr>
              <a:t>, no significant overfitting.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625257-45C7-48F5-9EF1-29180A588759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278714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F8111-096E-4BD4-A6DE-C25797C0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358" y="195542"/>
            <a:ext cx="6649329" cy="755700"/>
          </a:xfrm>
        </p:spPr>
        <p:txBody>
          <a:bodyPr/>
          <a:lstStyle/>
          <a:p>
            <a:r>
              <a:rPr lang="en-IN" sz="3600" dirty="0"/>
              <a:t>Regularisation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A1A35-E97B-420F-ADC9-AC473550D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120" y="1234068"/>
            <a:ext cx="5601114" cy="2728332"/>
          </a:xfrm>
        </p:spPr>
        <p:txBody>
          <a:bodyPr/>
          <a:lstStyle/>
          <a:p>
            <a:r>
              <a:rPr lang="en-IN" sz="1800" dirty="0"/>
              <a:t>Tested advanced models (Ridge &amp; Lasso) to confirm stability:</a:t>
            </a:r>
          </a:p>
          <a:p>
            <a:r>
              <a:rPr lang="en-IN" sz="1800" dirty="0"/>
              <a:t>Ridge: R² = 0.9912, MAE = 44.84, RMSE = 181.76 → performance drop.</a:t>
            </a:r>
          </a:p>
          <a:p>
            <a:r>
              <a:rPr lang="en-IN" sz="1800" dirty="0"/>
              <a:t>Lasso: R² = 0.999185, MAE = 27.78, RMSE = 55.42 → nearly same as Linear.</a:t>
            </a:r>
          </a:p>
          <a:p>
            <a:r>
              <a:rPr lang="en-IN" sz="1800" dirty="0"/>
              <a:t>Therefore: regularisation offered no material benefit → Linear Regression remains best.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E9D86B-457E-4D8A-8C8E-324FDBDCFCC8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193853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D710-E496-46E8-BD07-0DF4718C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55" y="-108528"/>
            <a:ext cx="6456041" cy="755700"/>
          </a:xfrm>
        </p:spPr>
        <p:txBody>
          <a:bodyPr/>
          <a:lstStyle/>
          <a:p>
            <a:r>
              <a:rPr lang="en-IN" dirty="0"/>
              <a:t>Visualization: Actual vs Predicted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5BDE5-730D-41F1-83E7-6540B388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255" y="4322145"/>
            <a:ext cx="7154852" cy="7557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Most points lie along the diagonal → model predictions almost perfectly match actuals, confirming high accuracy.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E772AD-E891-4930-91BD-DBB58684F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39" y="581517"/>
            <a:ext cx="5069645" cy="3806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73AACC-0732-4562-8E54-461FF1ABEC44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337384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5624-2501-4343-85EC-2E529F48CB3E}"/>
              </a:ext>
            </a:extLst>
          </p:cNvPr>
          <p:cNvSpPr txBox="1">
            <a:spLocks/>
          </p:cNvSpPr>
          <p:nvPr/>
        </p:nvSpPr>
        <p:spPr>
          <a:xfrm>
            <a:off x="732778" y="0"/>
            <a:ext cx="7719846" cy="755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800" b="1" dirty="0">
                <a:solidFill>
                  <a:schemeClr val="accent1"/>
                </a:solidFill>
                <a:latin typeface="Montserrat"/>
                <a:sym typeface="Montserrat"/>
              </a:rPr>
              <a:t>Feature &amp; Performance Visualizations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255DB-3DA7-4D35-B1E5-4D4C7B72D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833" y="539716"/>
            <a:ext cx="5970655" cy="429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8E107A9-89DC-4232-912F-F6BF7B65FDA3}"/>
              </a:ext>
            </a:extLst>
          </p:cNvPr>
          <p:cNvSpPr txBox="1">
            <a:spLocks/>
          </p:cNvSpPr>
          <p:nvPr/>
        </p:nvSpPr>
        <p:spPr>
          <a:xfrm>
            <a:off x="450281" y="1735444"/>
            <a:ext cx="2188841" cy="150584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Montserrat"/>
                <a:sym typeface="Montserrat"/>
              </a:rPr>
              <a:t>ROI, orders, and revenue_estimate are strongly correlated — showing consistent campaign relationships</a:t>
            </a:r>
            <a:r>
              <a:rPr lang="en-US" dirty="0">
                <a:solidFill>
                  <a:schemeClr val="tx1"/>
                </a:solidFill>
              </a:rPr>
              <a:t>.”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F8974-A6F4-40AB-9A54-F3DD3653CD1B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353109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C31F-A359-4F5B-A692-D01A943B9423}"/>
              </a:ext>
            </a:extLst>
          </p:cNvPr>
          <p:cNvSpPr txBox="1">
            <a:spLocks/>
          </p:cNvSpPr>
          <p:nvPr/>
        </p:nvSpPr>
        <p:spPr>
          <a:xfrm>
            <a:off x="1230865" y="0"/>
            <a:ext cx="6262753" cy="755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800" b="1" dirty="0">
                <a:solidFill>
                  <a:schemeClr val="accent1"/>
                </a:solidFill>
                <a:latin typeface="Montserrat"/>
                <a:sym typeface="Montserrat"/>
              </a:rPr>
              <a:t>Feature &amp; Performance 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8A2FA-292C-4864-8C3F-074770228609}"/>
              </a:ext>
            </a:extLst>
          </p:cNvPr>
          <p:cNvSpPr txBox="1">
            <a:spLocks/>
          </p:cNvSpPr>
          <p:nvPr/>
        </p:nvSpPr>
        <p:spPr>
          <a:xfrm>
            <a:off x="0" y="1816049"/>
            <a:ext cx="2188841" cy="150584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Montserrat"/>
              </a:rPr>
              <a:t>Discount_impact, revenue_estimate, and campaign fee have the strongest impact on order predictions.”</a:t>
            </a:r>
            <a:endParaRPr lang="en-IN" dirty="0">
              <a:solidFill>
                <a:schemeClr val="tx1"/>
              </a:solidFill>
              <a:latin typeface="Montserra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E7EF6A0-B52D-4D27-AFFE-956D17A7A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389" y="848069"/>
            <a:ext cx="6996562" cy="41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119E22-0C4A-4C45-8E51-6CB446F757BE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173010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89695-6ACE-4322-83B3-56FA67360154}"/>
              </a:ext>
            </a:extLst>
          </p:cNvPr>
          <p:cNvSpPr txBox="1">
            <a:spLocks/>
          </p:cNvSpPr>
          <p:nvPr/>
        </p:nvSpPr>
        <p:spPr>
          <a:xfrm>
            <a:off x="227255" y="36037"/>
            <a:ext cx="7510089" cy="755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400"/>
            </a:pPr>
            <a:r>
              <a:rPr lang="en-IN" sz="3600" b="1" dirty="0">
                <a:solidFill>
                  <a:schemeClr val="accent1"/>
                </a:solidFill>
                <a:latin typeface="Montserrat"/>
                <a:sym typeface="Montserrat"/>
              </a:rPr>
              <a:t>Insights &amp;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6BFA2-66D6-411F-AA46-1FAF88A70FE4}"/>
              </a:ext>
            </a:extLst>
          </p:cNvPr>
          <p:cNvSpPr txBox="1">
            <a:spLocks/>
          </p:cNvSpPr>
          <p:nvPr/>
        </p:nvSpPr>
        <p:spPr>
          <a:xfrm>
            <a:off x="227255" y="683941"/>
            <a:ext cx="4062247" cy="432861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36D3FCA-7D16-4F30-B5D1-1E77CFA452D1}"/>
              </a:ext>
            </a:extLst>
          </p:cNvPr>
          <p:cNvSpPr txBox="1">
            <a:spLocks/>
          </p:cNvSpPr>
          <p:nvPr/>
        </p:nvSpPr>
        <p:spPr>
          <a:xfrm>
            <a:off x="109109" y="683941"/>
            <a:ext cx="4180393" cy="453854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• Campaigns with moderate </a:t>
            </a:r>
            <a:r>
              <a:rPr lang="en-US" sz="1600" b="1" dirty="0"/>
              <a:t>fees</a:t>
            </a:r>
            <a:r>
              <a:rPr lang="en-US" sz="1600" dirty="0"/>
              <a:t> yield high returns; very high spend gives diminishing orders.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ROI</a:t>
            </a:r>
            <a:r>
              <a:rPr lang="en-US" sz="1600" dirty="0"/>
              <a:t> is mainly driven by price and discount balance — over-discounting reduces profit even with more orders.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Resource allocation</a:t>
            </a:r>
            <a:r>
              <a:rPr lang="en-US" sz="1600" dirty="0"/>
              <a:t> and </a:t>
            </a:r>
            <a:r>
              <a:rPr lang="en-US" sz="1600" b="1" dirty="0"/>
              <a:t>email rate targeting</a:t>
            </a:r>
            <a:r>
              <a:rPr lang="en-US" sz="1600" dirty="0"/>
              <a:t> strongly influence campaign success.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Recommendations:</a:t>
            </a:r>
            <a:endParaRPr lang="en-US" sz="1600" dirty="0"/>
          </a:p>
          <a:p>
            <a:r>
              <a:rPr lang="en-US" sz="1600" dirty="0"/>
              <a:t>• Use the model to guide </a:t>
            </a:r>
            <a:r>
              <a:rPr lang="en-US" sz="1600" b="1" dirty="0"/>
              <a:t>budget distribution</a:t>
            </a:r>
            <a:r>
              <a:rPr lang="en-US" sz="1600" dirty="0"/>
              <a:t> across campaigns.</a:t>
            </a:r>
          </a:p>
          <a:p>
            <a:r>
              <a:rPr lang="en-US" sz="1600" dirty="0"/>
              <a:t>• Optimize </a:t>
            </a:r>
            <a:r>
              <a:rPr lang="en-US" sz="1600" b="1" dirty="0"/>
              <a:t>discount rate and price mix</a:t>
            </a:r>
            <a:r>
              <a:rPr lang="en-US" sz="1600" dirty="0"/>
              <a:t> to maximize ROI.</a:t>
            </a:r>
          </a:p>
          <a:p>
            <a:r>
              <a:rPr lang="en-US" sz="1600" dirty="0"/>
              <a:t>• Continuously monitor </a:t>
            </a:r>
            <a:r>
              <a:rPr lang="en-US" sz="1600" b="1" dirty="0"/>
              <a:t>ROI vs Fee</a:t>
            </a:r>
            <a:r>
              <a:rPr lang="en-US" sz="1600" dirty="0"/>
              <a:t> to spot inefficient campaigns early.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5C5E44-9EDF-4DA7-B594-CE5E9571D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502" y="1007328"/>
            <a:ext cx="4537386" cy="329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CC6915-50CB-43B2-AF28-66DE5BDD8781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190635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38BAE-8D94-4C9C-94B7-DCBE9449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183" y="200722"/>
            <a:ext cx="5615982" cy="755700"/>
          </a:xfrm>
        </p:spPr>
        <p:txBody>
          <a:bodyPr/>
          <a:lstStyle/>
          <a:p>
            <a:r>
              <a:rPr lang="en-IN" sz="3200" dirty="0"/>
              <a:t>Conclusion &amp;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EF9B7-DDBC-46EE-B476-AF97D7BD8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525" y="1323277"/>
            <a:ext cx="5296314" cy="2668859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</a:rPr>
              <a:t>Final Model: Linear Regression (R² = 0.999)</a:t>
            </a:r>
          </a:p>
          <a:p>
            <a:r>
              <a:rPr lang="en-IN" sz="1600" dirty="0">
                <a:solidFill>
                  <a:schemeClr val="tx1"/>
                </a:solidFill>
              </a:rPr>
              <a:t>Dataset: 731 records, feature-engineered, processed, modelled</a:t>
            </a:r>
          </a:p>
          <a:p>
            <a:r>
              <a:rPr lang="en-IN" sz="1600" dirty="0">
                <a:solidFill>
                  <a:schemeClr val="tx1"/>
                </a:solidFill>
              </a:rPr>
              <a:t>Model validated with multiple techniques, no overfitting detected</a:t>
            </a:r>
          </a:p>
          <a:p>
            <a:r>
              <a:rPr lang="en-IN" sz="1600" dirty="0">
                <a:solidFill>
                  <a:schemeClr val="tx1"/>
                </a:solidFill>
              </a:rPr>
              <a:t>Next steps: integrate engagement &amp; impression data, deploy dashboard (Power BI) for real-time forecasting and campaign optimisation.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E9F228-5F49-42E1-9D30-BF927C3A2739}"/>
              </a:ext>
            </a:extLst>
          </p:cNvPr>
          <p:cNvSpPr/>
          <p:nvPr/>
        </p:nvSpPr>
        <p:spPr>
          <a:xfrm>
            <a:off x="0" y="4835723"/>
            <a:ext cx="5360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First Quadrant Labs Internship Project • Mohammed Zayd Quadri</a:t>
            </a:r>
          </a:p>
        </p:txBody>
      </p:sp>
    </p:spTree>
    <p:extLst>
      <p:ext uri="{BB962C8B-B14F-4D97-AF65-F5344CB8AC3E}">
        <p14:creationId xmlns:p14="http://schemas.microsoft.com/office/powerpoint/2010/main" val="352736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3E32-C8DB-4AF9-A953-0DD10803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432" y="69161"/>
            <a:ext cx="5378090" cy="755700"/>
          </a:xfrm>
        </p:spPr>
        <p:txBody>
          <a:bodyPr/>
          <a:lstStyle/>
          <a:p>
            <a:r>
              <a:rPr lang="en-IN" sz="3600" dirty="0"/>
              <a:t> Dashboard Overview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C1E29-540C-4434-9F36-412158399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4" y="824861"/>
            <a:ext cx="6847392" cy="420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9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720</Words>
  <Application>Microsoft Office PowerPoint</Application>
  <PresentationFormat>On-screen Show (16:9)</PresentationFormat>
  <Paragraphs>74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Montserrat</vt:lpstr>
      <vt:lpstr>Arial</vt:lpstr>
      <vt:lpstr>Management Consulting Toolkit by Slidesgo</vt:lpstr>
      <vt:lpstr>PowerPoint Presentation</vt:lpstr>
      <vt:lpstr>Problem Statement</vt:lpstr>
      <vt:lpstr>Dataset Overview</vt:lpstr>
      <vt:lpstr>Data Preprocessing</vt:lpstr>
      <vt:lpstr>Feature Engineering</vt:lpstr>
      <vt:lpstr>Model Comparison</vt:lpstr>
      <vt:lpstr>Overfitting Check</vt:lpstr>
      <vt:lpstr>Regularisation Validation</vt:lpstr>
      <vt:lpstr>Visualization: Actual vs Predicted</vt:lpstr>
      <vt:lpstr>PowerPoint Presentation</vt:lpstr>
      <vt:lpstr>PowerPoint Presentation</vt:lpstr>
      <vt:lpstr>PowerPoint Presentation</vt:lpstr>
      <vt:lpstr>Conclusion &amp; Next Steps</vt:lpstr>
      <vt:lpstr> Dashboard Overview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 Consulting Toolkit</dc:title>
  <cp:lastModifiedBy>GAME CHANGER</cp:lastModifiedBy>
  <cp:revision>10</cp:revision>
  <dcterms:modified xsi:type="dcterms:W3CDTF">2025-11-06T06:02:46Z</dcterms:modified>
</cp:coreProperties>
</file>